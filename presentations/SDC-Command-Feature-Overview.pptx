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d07805f5b14bff" /><Relationship Type="http://schemas.openxmlformats.org/officeDocument/2006/relationships/extended-properties" Target="/docProps/app.xml" Id="Rd87ab3813b7645f6" /><Relationship Type="http://schemas.openxmlformats.org/officeDocument/2006/relationships/officeDocument" Target="/ppt/presentation.xml" Id="Rbfe861552cfe47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04a5e180244d14"/>
  </p:sldMasterIdLst>
  <p:notesMasterIdLst>
    <p:notesMasterId xmlns:r="http://schemas.openxmlformats.org/officeDocument/2006/relationships" r:id="Rf88a326b8f034ce4"/>
  </p:notesMasterIdLst>
  <p:sldIdLst>
    <p:sldId xmlns:r="http://schemas.openxmlformats.org/officeDocument/2006/relationships" id="256" r:id="R015aaff98c8d4ee5"/>
    <p:sldId xmlns:r="http://schemas.openxmlformats.org/officeDocument/2006/relationships" id="257" r:id="R7cebb95fdae5461d"/>
    <p:sldId xmlns:r="http://schemas.openxmlformats.org/officeDocument/2006/relationships" id="258" r:id="R8c3dfcad35884959"/>
    <p:sldId xmlns:r="http://schemas.openxmlformats.org/officeDocument/2006/relationships" id="259" r:id="Red773dc8eafc458a"/>
    <p:sldId xmlns:r="http://schemas.openxmlformats.org/officeDocument/2006/relationships" id="260" r:id="R38b2cab6ba584872"/>
    <p:sldId xmlns:r="http://schemas.openxmlformats.org/officeDocument/2006/relationships" id="261" r:id="R0d05b384b2f444c2"/>
    <p:sldId xmlns:r="http://schemas.openxmlformats.org/officeDocument/2006/relationships" id="262" r:id="R4c861bd8c96a4d13"/>
    <p:sldId xmlns:r="http://schemas.openxmlformats.org/officeDocument/2006/relationships" id="263" r:id="R6d86cee36e4d4ef9"/>
    <p:sldId xmlns:r="http://schemas.openxmlformats.org/officeDocument/2006/relationships" id="264" r:id="R94e876156ab74f2e"/>
    <p:sldId xmlns:r="http://schemas.openxmlformats.org/officeDocument/2006/relationships" id="265" r:id="Rdf356bfb89d24ecd"/>
    <p:sldId xmlns:r="http://schemas.openxmlformats.org/officeDocument/2006/relationships" id="266" r:id="R8b0b91312728471b"/>
    <p:sldId xmlns:r="http://schemas.openxmlformats.org/officeDocument/2006/relationships" id="267" r:id="R183667acb5f14553"/>
    <p:sldId xmlns:r="http://schemas.openxmlformats.org/officeDocument/2006/relationships" id="268" r:id="Re51d3a8ee0b24e14"/>
    <p:sldId xmlns:r="http://schemas.openxmlformats.org/officeDocument/2006/relationships" id="269" r:id="Rc32cde0ec7524168"/>
    <p:sldId xmlns:r="http://schemas.openxmlformats.org/officeDocument/2006/relationships" id="270" r:id="R96f1f0e3a5524bc4"/>
    <p:sldId xmlns:r="http://schemas.openxmlformats.org/officeDocument/2006/relationships" id="271" r:id="R5c2f326e624948ee"/>
    <p:sldId xmlns:r="http://schemas.openxmlformats.org/officeDocument/2006/relationships" id="272" r:id="R5e2c444089dc46ca"/>
    <p:sldId xmlns:r="http://schemas.openxmlformats.org/officeDocument/2006/relationships" id="273" r:id="R8f5fb05250e646fa"/>
    <p:sldId xmlns:r="http://schemas.openxmlformats.org/officeDocument/2006/relationships" id="274" r:id="R61eb4aac4bb845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95b6ffb3514c5f" /><Relationship Type="http://schemas.openxmlformats.org/officeDocument/2006/relationships/slideMaster" Target="/ppt/slideMasters/slideMaster1.xml" Id="Rf304a5e180244d14" /><Relationship Type="http://schemas.openxmlformats.org/officeDocument/2006/relationships/notesMaster" Target="/ppt/notesMasters/notesMaster1.xml" Id="Rf88a326b8f034ce4" /><Relationship Type="http://schemas.openxmlformats.org/officeDocument/2006/relationships/presProps" Target="/ppt/presProps.xml" Id="R90655d421d654c9e" /><Relationship Type="http://schemas.openxmlformats.org/officeDocument/2006/relationships/tableStyles" Target="/ppt/tableStyles.xml" Id="Rb6201164cf7a4e98" /><Relationship Type="http://schemas.openxmlformats.org/officeDocument/2006/relationships/slide" Target="/ppt/slides/slide1.xml" Id="R015aaff98c8d4ee5" /><Relationship Type="http://schemas.openxmlformats.org/officeDocument/2006/relationships/slide" Target="/ppt/slides/slide2.xml" Id="R7cebb95fdae5461d" /><Relationship Type="http://schemas.openxmlformats.org/officeDocument/2006/relationships/slide" Target="/ppt/slides/slide3.xml" Id="R8c3dfcad35884959" /><Relationship Type="http://schemas.openxmlformats.org/officeDocument/2006/relationships/slide" Target="/ppt/slides/slide4.xml" Id="Red773dc8eafc458a" /><Relationship Type="http://schemas.openxmlformats.org/officeDocument/2006/relationships/slide" Target="/ppt/slides/slide5.xml" Id="R38b2cab6ba584872" /><Relationship Type="http://schemas.openxmlformats.org/officeDocument/2006/relationships/slide" Target="/ppt/slides/slide6.xml" Id="R0d05b384b2f444c2" /><Relationship Type="http://schemas.openxmlformats.org/officeDocument/2006/relationships/slide" Target="/ppt/slides/slide7.xml" Id="R4c861bd8c96a4d13" /><Relationship Type="http://schemas.openxmlformats.org/officeDocument/2006/relationships/slide" Target="/ppt/slides/slide8.xml" Id="R6d86cee36e4d4ef9" /><Relationship Type="http://schemas.openxmlformats.org/officeDocument/2006/relationships/slide" Target="/ppt/slides/slide9.xml" Id="R94e876156ab74f2e" /><Relationship Type="http://schemas.openxmlformats.org/officeDocument/2006/relationships/slide" Target="/ppt/slides/slide10.xml" Id="Rdf356bfb89d24ecd" /><Relationship Type="http://schemas.openxmlformats.org/officeDocument/2006/relationships/slide" Target="/ppt/slides/slide11.xml" Id="R8b0b91312728471b" /><Relationship Type="http://schemas.openxmlformats.org/officeDocument/2006/relationships/slide" Target="/ppt/slides/slide12.xml" Id="R183667acb5f14553" /><Relationship Type="http://schemas.openxmlformats.org/officeDocument/2006/relationships/slide" Target="/ppt/slides/slide13.xml" Id="Re51d3a8ee0b24e14" /><Relationship Type="http://schemas.openxmlformats.org/officeDocument/2006/relationships/slide" Target="/ppt/slides/slide14.xml" Id="Rc32cde0ec7524168" /><Relationship Type="http://schemas.openxmlformats.org/officeDocument/2006/relationships/slide" Target="/ppt/slides/slide15.xml" Id="R96f1f0e3a5524bc4" /><Relationship Type="http://schemas.openxmlformats.org/officeDocument/2006/relationships/slide" Target="/ppt/slides/slide16.xml" Id="R5c2f326e624948ee" /><Relationship Type="http://schemas.openxmlformats.org/officeDocument/2006/relationships/slide" Target="/ppt/slides/slide17.xml" Id="R5e2c444089dc46ca" /><Relationship Type="http://schemas.openxmlformats.org/officeDocument/2006/relationships/slide" Target="/ppt/slides/slide18.xml" Id="R8f5fb05250e646fa" /><Relationship Type="http://schemas.openxmlformats.org/officeDocument/2006/relationships/slide" Target="/ppt/slides/slide19.xml" Id="R61eb4aac4bb845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399cb8ecaa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728f4bdd4b4f8c" /><Relationship Type="http://schemas.openxmlformats.org/officeDocument/2006/relationships/notesMaster" Target="/ppt/notesMasters/notesMaster1.xml" Id="Rd5e078f70ac542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649d9eea644690" /><Relationship Type="http://schemas.openxmlformats.org/officeDocument/2006/relationships/notesMaster" Target="/ppt/notesMasters/notesMaster1.xml" Id="Rd2db09207df448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e6134ff4dc47d8" /><Relationship Type="http://schemas.openxmlformats.org/officeDocument/2006/relationships/notesMaster" Target="/ppt/notesMasters/notesMaster1.xml" Id="R9ee9e4b626a842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94fd13969a4ba8" /><Relationship Type="http://schemas.openxmlformats.org/officeDocument/2006/relationships/notesMaster" Target="/ppt/notesMasters/notesMaster1.xml" Id="R891135f0e23c45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5884c888114458" /><Relationship Type="http://schemas.openxmlformats.org/officeDocument/2006/relationships/notesMaster" Target="/ppt/notesMasters/notesMaster1.xml" Id="Rcc2da783094b40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33f0ee534c4b09" /><Relationship Type="http://schemas.openxmlformats.org/officeDocument/2006/relationships/notesMaster" Target="/ppt/notesMasters/notesMaster1.xml" Id="R4abf06a2293147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855befc5bb4c99" /><Relationship Type="http://schemas.openxmlformats.org/officeDocument/2006/relationships/notesMaster" Target="/ppt/notesMasters/notesMaster1.xml" Id="Raae0dfc538c94d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92c28113834f31" /><Relationship Type="http://schemas.openxmlformats.org/officeDocument/2006/relationships/notesMaster" Target="/ppt/notesMasters/notesMaster1.xml" Id="R2914a5cbf3cd4d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78ac9619b54525" /><Relationship Type="http://schemas.openxmlformats.org/officeDocument/2006/relationships/notesMaster" Target="/ppt/notesMasters/notesMaster1.xml" Id="R836fb80528444e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8fc63898c541b8" /><Relationship Type="http://schemas.openxmlformats.org/officeDocument/2006/relationships/notesMaster" Target="/ppt/notesMasters/notesMaster1.xml" Id="Rae71fc801a8342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075464613846a4" /><Relationship Type="http://schemas.openxmlformats.org/officeDocument/2006/relationships/notesMaster" Target="/ppt/notesMasters/notesMaster1.xml" Id="R7c671a3feeba46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8c443150744ff7" /><Relationship Type="http://schemas.openxmlformats.org/officeDocument/2006/relationships/notesMaster" Target="/ppt/notesMasters/notesMaster1.xml" Id="R8760fc2f584640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3c63e9a2414b86" /><Relationship Type="http://schemas.openxmlformats.org/officeDocument/2006/relationships/notesMaster" Target="/ppt/notesMasters/notesMaster1.xml" Id="R96d1f0934e4046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a9ebdd1fb74710" /><Relationship Type="http://schemas.openxmlformats.org/officeDocument/2006/relationships/notesMaster" Target="/ppt/notesMasters/notesMaster1.xml" Id="Rc54e488a849d47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cfb2d3d3e34551" /><Relationship Type="http://schemas.openxmlformats.org/officeDocument/2006/relationships/notesMaster" Target="/ppt/notesMasters/notesMaster1.xml" Id="R848dbbf6d64c42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a1e90529534623" /><Relationship Type="http://schemas.openxmlformats.org/officeDocument/2006/relationships/notesMaster" Target="/ppt/notesMasters/notesMaster1.xml" Id="R05fb067db80445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12d54cd26b4b1b" /><Relationship Type="http://schemas.openxmlformats.org/officeDocument/2006/relationships/notesMaster" Target="/ppt/notesMasters/notesMaster1.xml" Id="Rbfe997fbb49c41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20b223a9c6482e" /><Relationship Type="http://schemas.openxmlformats.org/officeDocument/2006/relationships/notesMaster" Target="/ppt/notesMasters/notesMaster1.xml" Id="Re9435eafd93e48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7dc28d5f6b4ab3" /><Relationship Type="http://schemas.openxmlformats.org/officeDocument/2006/relationships/notesMaster" Target="/ppt/notesMasters/notesMaster1.xml" Id="R844a3e65b9304c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581e8b28f4b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86e94656b4ba7" /><Relationship Type="http://schemas.openxmlformats.org/officeDocument/2006/relationships/slideLayout" Target="/ppt/slideLayouts/slideLayout1.xml" Id="R98b1795c28e049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1795c28e049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9324d00024219" /><Relationship Type="http://schemas.openxmlformats.org/officeDocument/2006/relationships/image" Target="/ppt/media/image.png" Id="R447ac88f46374c09" /><Relationship Type="http://schemas.openxmlformats.org/officeDocument/2006/relationships/notesSlide" Target="/ppt/notesSlides/notesSlide1.xml" Id="Rc485f4eb680d41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61a96c2df4374" /><Relationship Type="http://schemas.openxmlformats.org/officeDocument/2006/relationships/notesSlide" Target="/ppt/notesSlides/notesSlide2.xml" Id="Rb29392b8c86c48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3c6b92ab14f97" /><Relationship Type="http://schemas.openxmlformats.org/officeDocument/2006/relationships/notesSlide" Target="/ppt/notesSlides/notesSlide3.xml" Id="R372397bc804b47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0c2d1caac497f" /><Relationship Type="http://schemas.openxmlformats.org/officeDocument/2006/relationships/notesSlide" Target="/ppt/notesSlides/notesSlide4.xml" Id="R64519b08217d45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f478a53a64d73" /><Relationship Type="http://schemas.openxmlformats.org/officeDocument/2006/relationships/notesSlide" Target="/ppt/notesSlides/notesSlide5.xml" Id="R78b64bd9f0c94d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b086054d14570" /><Relationship Type="http://schemas.openxmlformats.org/officeDocument/2006/relationships/notesSlide" Target="/ppt/notesSlides/notesSlide6.xml" Id="R6e0d546624ae45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ef732c4bb45f3" /><Relationship Type="http://schemas.openxmlformats.org/officeDocument/2006/relationships/notesSlide" Target="/ppt/notesSlides/notesSlide7.xml" Id="R99d36fa9d9f1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0f9019cd6490f" /><Relationship Type="http://schemas.openxmlformats.org/officeDocument/2006/relationships/notesSlide" Target="/ppt/notesSlides/notesSlide8.xml" Id="R70493a8aeeea49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19c5ea63e4f94" /><Relationship Type="http://schemas.openxmlformats.org/officeDocument/2006/relationships/notesSlide" Target="/ppt/notesSlides/notesSlide9.xml" Id="R4fb4b4bae3a346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50102876a4851" /><Relationship Type="http://schemas.openxmlformats.org/officeDocument/2006/relationships/notesSlide" Target="/ppt/notesSlides/notesSlide10.xml" Id="Rda9ad9b6789a4e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3a1b0fd26419a" /><Relationship Type="http://schemas.openxmlformats.org/officeDocument/2006/relationships/notesSlide" Target="/ppt/notesSlides/notesSlide11.xml" Id="Rc3bad4cea22949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4fcc041234a78" /><Relationship Type="http://schemas.openxmlformats.org/officeDocument/2006/relationships/notesSlide" Target="/ppt/notesSlides/notesSlide12.xml" Id="R946cd7a718a747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8f07555094f71" /><Relationship Type="http://schemas.openxmlformats.org/officeDocument/2006/relationships/notesSlide" Target="/ppt/notesSlides/notesSlide13.xml" Id="R2cf4bb2f37bb46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974d7da2d4d04" /><Relationship Type="http://schemas.openxmlformats.org/officeDocument/2006/relationships/notesSlide" Target="/ppt/notesSlides/notesSlide14.xml" Id="R8ac5ed9a34654d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f7cebfee74526" /><Relationship Type="http://schemas.openxmlformats.org/officeDocument/2006/relationships/notesSlide" Target="/ppt/notesSlides/notesSlide15.xml" Id="R426e9d381c0647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a0f087baa4098" /><Relationship Type="http://schemas.openxmlformats.org/officeDocument/2006/relationships/notesSlide" Target="/ppt/notesSlides/notesSlide16.xml" Id="R55ccd823a61349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e9af53dc44d30" /><Relationship Type="http://schemas.openxmlformats.org/officeDocument/2006/relationships/notesSlide" Target="/ppt/notesSlides/notesSlide17.xml" Id="Rf7c5a7783f8047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6129f28c54af5" /><Relationship Type="http://schemas.openxmlformats.org/officeDocument/2006/relationships/notesSlide" Target="/ppt/notesSlides/notesSlide18.xml" Id="Rb3e5b96dc82e45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ca68d9f744881" /><Relationship Type="http://schemas.openxmlformats.org/officeDocument/2006/relationships/notesSlide" Target="/ppt/notesSlides/notesSlide19.xml" Id="R75ce703bd25549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512C1-E6D3-47C3-9862-46539698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ac88f46374c09"/>
          <a:stretch xmlns:a="http://schemas.openxmlformats.org/drawingml/2006/main"/>
        </p:blipFill>
        <p:spPr>
          <a:xfrm xmlns:a="http://schemas.openxmlformats.org/drawingml/2006/main">
            <a:off x="685800" y="76200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944DE-B0D5-433F-A0EE-828CB009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7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SDC COMMAND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D924B-6CA3-4AED-92DE-FC8C1584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D9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D9E6F3"/>
                </a:solidFill>
                <a:latin typeface="Helvetica Neue"/>
                <a:ea typeface="Helvetica Neue"/>
                <a:cs typeface="Helvetica Neue"/>
              </a:rPr>
              <a:t>Product, platform and operational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50BA3-CF92-45D7-9F44-974CA48F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55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425">
                <a:solidFill>
                  <a:srgbClr val="B7CB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B7CBE0"/>
                </a:solidFill>
                <a:latin typeface="Helvetica Neue"/>
                <a:ea typeface="Helvetica Neue"/>
                <a:cs typeface="Helvetica Neue"/>
              </a:rPr>
              <a:t>A complete walkthrough of the public website and the connected security workforce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B7CCC-6E4F-4D29-9543-9DA7874E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B5D78-CB12-4F68-8AE8-9D4D7CE7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9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D9E6F3"/>
                </a:solidFill>
                <a:latin typeface="Helvetica Neue"/>
                <a:ea typeface="Helvetica Neue"/>
                <a:cs typeface="Helvetica Neue"/>
              </a:rPr>
              <a:t>September 2026  ·  Client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FBA59-7976-43E1-A81E-C6620122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72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9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C928"/>
                </a:solidFill>
                <a:latin typeface="Helvetica Neue"/>
                <a:ea typeface="Helvetica Neue"/>
                <a:cs typeface="Helvetica Neue"/>
              </a:rPr>
              <a:t>Human vigilance. Machine intelligence.</a:t>
            </a:r>
          </a:p>
        </p:txBody>
      </p:sp>
    </p:spTree>
    <p:extLst>
      <p:ext uri="{BB962C8B-B14F-4D97-AF65-F5344CB8AC3E}">
        <p14:creationId xmlns:p14="http://schemas.microsoft.com/office/powerpoint/2010/main" val="972946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F2637-4D6B-4223-8107-9770DFA5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FDB26-F2D2-43BD-BAD2-0FACEB2B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SDC COMMAND  /  PRODUCT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4D96D-00FE-4DE3-880B-890EBD5C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One operating system for a security services company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6ECAA-5416-415D-80F2-E6C94C22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ED15F-FAE8-4376-875B-2E9BB3A1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54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SDC Command connects the commercial website, workforce records and daily field execution in one controlled workspace.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E7B56-5474-44B4-9C9F-491E73F4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0D50E-E19B-4250-B727-FBDEBF98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18E43-6284-4CD1-95B6-77DDB877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Attract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A2BCF-0ECB-4F38-A413-5D41BDEB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Public website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Brand, services, clientele, advisors and portal entry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D4DC5-A784-4AB0-B328-B2CCC4B0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05150"/>
            <a:ext cx="704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C6277-1482-4F45-BE49-171F6F7E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5A6C2-742B-4F89-A9F7-00360C57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C9F32-CD3B-4C27-A30A-6116420E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3A8DE-AF23-4023-BEEC-2628D688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146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Command centre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People, sites, rosters, attendance, incidents and CCTV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D519A-9AE3-4DE2-9C3B-D22A967D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704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4CADE-DC26-48A1-A6D9-3B7C1758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667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ED191-FFCC-47FC-BA52-2476F265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F512D-9F2E-4EBF-95CA-200BE345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8403C-DEDB-4982-9CA8-6EAC7BD7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1465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Client confidence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Risk reports, service analytics, invoices, audit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F0554-8FEC-4EEF-A2CB-9422C752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36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The value is operational continuity: every assignment, exception and approval has a record, owner and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C9848-ADE5-402C-B5CF-9BC8DE28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02</a:t>
            </a:r>
          </a:p>
        </p:txBody>
      </p:sp>
    </p:spTree>
    <p:extLst>
      <p:ext uri="{BB962C8B-B14F-4D97-AF65-F5344CB8AC3E}">
        <p14:creationId xmlns:p14="http://schemas.microsoft.com/office/powerpoint/2010/main" val="1500334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3142F-F441-4600-A88D-B70B722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AAAAF-D383-4CBA-BDB8-E737BA50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SDC COMMAND  /  PLATFORM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1973C-D3B4-4CEA-BB03-10479683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Technical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69C8C-63C0-4CC9-97EC-92212F6A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55981-5A3D-485E-8CB0-754B3D87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frontend stays simple for each role. The database enforces the important boundaries underneath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CBFB5-EF80-4472-9A83-894D74E9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1CFDB-9AEB-4430-9F53-C11E3CD0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44932-768A-42A1-9CF2-01FF1EF1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192BF-868E-4796-B61A-8A55134E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790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Public visitors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Admins · HR · Trainers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Supervisors · Guards · Clients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89264-88EC-4CC5-B279-9CF2BF14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51F6A-0C07-4440-8416-8F2BD1BB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2428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1BBF9-3710-4E17-8577-24E51F45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CD14C-F37E-49E0-AB17-C5B4E8B7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BE5C8-3C09-4F42-BD90-EF5A7B22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20288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23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React + Vinext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Responsive workspace shell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Role-aware navigation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Mobile attendance PWA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82773-B784-44E7-8DAD-BA896A81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38EE7-339E-4914-896B-F4D2CD34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2428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4BBF8-7C9F-4A0A-AC5E-F24F0928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452AE-E336-4BBB-A51F-ED76DCC6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289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Application APIs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BF9B7-BFE4-4962-907B-4B5F52FE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71800"/>
            <a:ext cx="20288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22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Validated route handlers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PDF and QR generation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Encrypted camera gateway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Offline sync and notifications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2B723-21D0-48EB-9E0A-6586F180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575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06617-7C11-4BE9-8F2E-EFB6D33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1428750" cy="1809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6EAB6-D35B-417D-AEC5-1DE30268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C6D9E-03C5-4265-82DF-FEE528A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28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Supabase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F80AA-BF16-48B9-8647-FDD6809A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71800"/>
            <a:ext cx="1028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14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Auth · Postgres · Storage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RLS and scoped RPCs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Audit events and triggers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Private evidence buckets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A3AA1-54E5-4FAC-935E-8A30B374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Deployment: GitHub → Railway → production URL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6895D1-BD3F-4573-8C5B-9E40746E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03</a:t>
            </a:r>
          </a:p>
        </p:txBody>
      </p:sp>
    </p:spTree>
    <p:extLst>
      <p:ext uri="{BB962C8B-B14F-4D97-AF65-F5344CB8AC3E}">
        <p14:creationId xmlns:p14="http://schemas.microsoft.com/office/powerpoint/2010/main" val="1799669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94B9EC-BED6-4DB3-AB21-D58267BF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BEFFD-04BD-4782-8002-05B5EB12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SDC COMMAND  /  ACCESS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B6545-6DD9-4ABE-AC46-87C77AD5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Role-based workspaces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6CACA-CB9C-4296-A225-3B72B535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8C279-EEEC-46FC-BAC0-361935A7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Each role sees the decisions it owns. Scope checks apply again at the API and database layers.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612F7-7551-4A64-A92B-A77246A7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B5189-040E-438C-8890-B4FFA6F3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6C3F1-4F03-4E5D-984D-0B19D9B7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B86F4-90B6-4493-9045-D504C39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1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Everything, access, audit and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5EAAC-2698-4E84-ADCE-DF9D48A1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AECBF-C957-4629-AB67-8223B127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0BA6D-6759-4056-81D1-A6A9A135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332E2-2C39-4875-8247-C9302989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1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Sites, rosters, gaps, incidents and cameras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F933D-A7CF-424C-A82B-5788FF42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2A209-B555-4438-B29A-4AE5F994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6D5DB-DF20-4E5B-B75D-82ABA902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HR / Payroll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AFEB0-92DB-4F28-9BC8-D85C4641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1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People, pay, training and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C32C1-4BD3-45F4-B48F-FC89EF7A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0D901-8D4A-4163-A680-AB881B88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73A1B-17D5-4E7D-810C-ECD415E9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Trainer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00341-0592-4339-BED8-4A566BA8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38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1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Courses, assessments and certification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3CF74-76E4-4624-9388-E09BB783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67CE2-24F2-47EF-B0C0-BC7C1891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C7FA9-68E7-4BAB-9018-A621E319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Supervisor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55A69-2F06-4A81-A8EA-150BCA7C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1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Own sites, patrols, risks and handovers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C3661-979B-402B-B328-7ECF2A4D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52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40F60-37AF-4E72-AC3A-910E1F08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528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12F82-F9BE-487F-AE82-E2D67CAD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Guard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24AD7D-B136-45F5-ACA1-C726AEB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672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03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Own roster, attendance and training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BA7ECC-8936-4D10-8FAC-8F5AE06D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52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8186B4-0CDD-4CAD-B53E-9FE0B5E3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528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1B2700-033A-42C8-BCF4-5CCDEA4C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09BF3B-53E1-4818-841E-F404BD3A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1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Own sites, findings, service and invoices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E181C1-3A4F-498B-8998-9BE238FE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Utility: people spend less time navigating irrelevant screens, while tenant and site isolation prevents accidental disclosure.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FDFEC7-4A71-404B-ACAB-78900FF5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04</a:t>
            </a:r>
          </a:p>
        </p:txBody>
      </p:sp>
    </p:spTree>
    <p:extLst>
      <p:ext uri="{BB962C8B-B14F-4D97-AF65-F5344CB8AC3E}">
        <p14:creationId xmlns:p14="http://schemas.microsoft.com/office/powerpoint/2010/main" val="1033182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750E1-0B95-470C-A766-05CD18E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6E0DE-CF2A-4358-AD19-4E71BE6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 /  PUBLIC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8BB16-D6F8-42B5-85CF-B2E241DE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Public website and brand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9596D-3F20-48C1-A5A3-A4A4C94A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9247E-DB6E-4A17-84D2-9565289B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810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Responsive SDC landing page with navy and yellow brand system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Hero carousel for human vigilance, technology and connected operations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Solutions and technology storytelling for security and facility services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Client and team portal entry point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Clientele logo marquee and advisor section for credibility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Accessible controls, readable typography and mobile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7174B-8168-4B20-8C13-DA26FC8E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3905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82B52"/>
          </a:solidFill>
          <a:ln xmlns:a="http://schemas.openxmlformats.org/drawingml/2006/main" w="9525">
            <a:solidFill>
              <a:srgbClr val="0C5C9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EA1E2-0EC9-4E88-8B5F-B93F3ACA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1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9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C928"/>
                </a:solidFill>
                <a:latin typeface="Helvetica Neue"/>
                <a:ea typeface="Helvetica Neue"/>
                <a:cs typeface="Helvetica Neue"/>
              </a:rPr>
              <a:t>PUBLIC 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34732-6E70-4EED-8FD8-DB436248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955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43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Human vigilance.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Machine intelligence.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39E6A-9599-4B54-83BE-3118602A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33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D9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C9D9E8"/>
                </a:solidFill>
                <a:latin typeface="Helvetica Neue"/>
                <a:ea typeface="Helvetica Neue"/>
                <a:cs typeface="Helvetica Neue"/>
              </a:rPr>
              <a:t>A clear story for prospects, clients and future employees.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E1001-6B77-4B47-AD12-2D357EB7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529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C4312-FFDC-4386-828F-D9ECEF8C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Client &amp; team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B71FF-65CC-45AC-8C3D-101F00CF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05</a:t>
            </a:r>
          </a:p>
        </p:txBody>
      </p:sp>
    </p:spTree>
    <p:extLst>
      <p:ext uri="{BB962C8B-B14F-4D97-AF65-F5344CB8AC3E}">
        <p14:creationId xmlns:p14="http://schemas.microsoft.com/office/powerpoint/2010/main" val="376923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7D61C-FA2D-4483-94E5-B5F9A82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F0D42-1B15-4720-96ED-F724B303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 /  OPERATIONS VISIBILITY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5825E-AB8E-48D5-9B09-AC005AD3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Command centre and service analytics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BB7C0-A119-4967-B325-01F68D31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E5BEC-68B7-4621-AAF1-22A9308C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F3E5A-282C-4EFA-8701-CA73425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site status and on-duty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0E830-57E9-4513-B63F-0F7864A5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30 sec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3AA1C-3160-4274-91F3-9BC41DE7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command refresh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2237C-1C18-4E6D-BBDA-CFBB3E82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87C2B-AEB2-4721-9DB5-E78B2BD5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client service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54EE4-FEED-4AE3-96E5-1FDE325E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Scoped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80BB4-5FE1-48EA-84DC-CA1DBEB0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map and performance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32642-501A-47C1-8A26-478A304A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357A0-51EC-4DED-9C90-EA891B2C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E2855-00D8-43DB-84A4-8EDAF9C1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Command centre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8513D-8ECD-4901-9D1A-07C5377C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5529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Site map with live operational counts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On-duty people and attendance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Open incidents, SOS, risks and offline cameras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Guard performance and client overview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DB805-84E3-4B40-BF30-922D6AA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3911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6091B-653A-41EB-B0E9-7DACECC7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37211-665A-4A93-B2E2-F04BEBEE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Service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798F0-A10E-4A6B-A766-5BF395C6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4991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Required versus published coverage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Approved attendance percentage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Incident volume and acknowledgement time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Security score and audit average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Patrol checkpoint activity and score trend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0F858-F705-436F-B34A-9CA5D8F0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06</a:t>
            </a:r>
          </a:p>
        </p:txBody>
      </p:sp>
    </p:spTree>
    <p:extLst>
      <p:ext uri="{BB962C8B-B14F-4D97-AF65-F5344CB8AC3E}">
        <p14:creationId xmlns:p14="http://schemas.microsoft.com/office/powerpoint/2010/main" val="1645832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B88C3-270D-4610-8B61-65B2C3DD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37CEF-07EF-4748-96CB-56C57F1B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+ BACKEND  /  SERVICE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F7EC6-2B3C-4E27-AD4A-DD380221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Clients, sites, posts and shifts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FD990-07D1-4E00-802D-46805F62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4AAB7-4A05-4B15-9969-9B26040E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service model mirrors how a real security contract operates.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3B259-AB04-4145-80D4-8108F4DF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333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49919-D62D-4101-B8F0-355D8FB8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EC29B-B8C2-4C82-AE26-8B63403F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59BB7-A909-4A26-970E-9D2B247F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933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Legal entity, contacts, contracts, billing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84FD7-CD6E-4C02-8079-96415FB2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432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D435C-CFB5-48CB-8DA1-50E608A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2333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CE6ED-A0A8-4A16-AE39-A0555ADD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11483-8FA5-48DB-BA06-EB3DC1A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A964D-F123-47A1-A84F-293B94DE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933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Location, geofence, type, emergency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0BF41-71F9-408C-8DFB-CF2CC6B3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432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DBD5B-21B6-4839-B6E5-7B01B904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333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F3CAA-4245-48E2-B952-FA475AE1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781B3-9BA2-482E-BAA2-1ADB3A4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E7E48-26BB-4DA6-9B36-60D060E0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933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Gate, lobby, control room, patrol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7A34D-C14D-45FF-AFA9-B7677516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432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3ADC4-1DD8-4534-B914-5EBD41F1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333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CECC1-595B-4557-B0A8-4D812508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13ED0-EA0C-4750-8148-3E64CEA5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Shift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E6117-82F6-4EBE-B9A7-FB68288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1933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Day/night pattern, duration, headcount, grade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89102-E198-4542-BB70-62E4F6B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Foundation documents support contracts, SOPs and signed authorisations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Site and client scoping drives every downstream permission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Soft deletes and effective dates preserve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71E9E-E31D-4101-9C53-264948A1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07</a:t>
            </a:r>
          </a:p>
        </p:txBody>
      </p:sp>
    </p:spTree>
    <p:extLst>
      <p:ext uri="{BB962C8B-B14F-4D97-AF65-F5344CB8AC3E}">
        <p14:creationId xmlns:p14="http://schemas.microsoft.com/office/powerpoint/2010/main" val="1013614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DCE6B-DB38-45DA-8EFA-44EF34A9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FD1B3-194D-46CE-8675-ED1FAA25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+ BACKEND  /  EMPLOYEE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32F8F-E951-4A7B-8609-642AF8B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People and workforce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5ED3C-A552-4705-B647-3C380A1F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E14F9-C180-4C93-9669-117EBA15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19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Searchable employee directory with site, grade, status and availability filters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Profile records for employment, KYC, verification, documents and identity cards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Effective-dated postings, attendance, leave, compensation and payroll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Payslips, payment ledger, advances, deductions and audit-safe corrections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ID card PDFs with QR verification and exit invalidation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Sensitive fields protected through role checks, masking and encryption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79BE7-AE6B-4657-B89D-EA2EABFE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810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36913-00B6-493D-8EE8-DC58521A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C31A1-1586-424B-BC3D-6FB1CFB5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66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Utility to SDC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E0C7D-1AE3-4A3F-BACF-25E3488E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09850"/>
            <a:ext cx="34099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HR maintains one source of truth.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Operations can see the staff needed for a shift without seeing private KYC.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Employees receive self-service access to the records they need.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25C88-BF4C-4CFB-A934-D444CC8E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08</a:t>
            </a:r>
          </a:p>
        </p:txBody>
      </p:sp>
    </p:spTree>
    <p:extLst>
      <p:ext uri="{BB962C8B-B14F-4D97-AF65-F5344CB8AC3E}">
        <p14:creationId xmlns:p14="http://schemas.microsoft.com/office/powerpoint/2010/main" val="663283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1608C-1012-4503-B609-B0C9398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AACD0-6FB1-4D65-BBB0-06330F4E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+ BACKEND  / 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EDA64-5245-4464-80E6-94CA6483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Training academy and certification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0F0E3-76D9-44E8-B046-A45D41AD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59E5A-FBDB-4708-B127-380F79FB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Training turns deployment eligibility into a visible, testable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74AE6-4B85-46E2-87B4-1EBD82C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75BA2-187B-401C-9EA8-17E09853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6A0D4-D833-4604-9386-51B2756F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Catalogue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A60EB-E1FD-444A-B72C-B0B4504F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1240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2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PSARA and induction modules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Specialist tracks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Refresher and leadership courses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Hours, field work, languages and validity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04E07-1DBF-4705-99A7-7B05088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669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8778A-022B-44CE-A02C-487F117B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669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6216D-304F-4057-850E-FA1F6F10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384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Sessions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7C040-0BD6-4B40-8BAD-E3F8BC89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81300"/>
            <a:ext cx="21240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99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Trainer, venue, capacity and schedule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Attendance and practical score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Prerequisite and overlap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55462-E07A-4EE7-B2F3-CE128FA8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76FBB-0FA0-46E1-9DC5-890D8271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4E3B4-9BDB-4BEA-9442-824EDB4D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Assessment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53A8A-A4A9-45C5-BFA5-3919D893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21240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Private question bank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Randomized test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Frozen course snapshot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Server-side grading and reattempt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D9676-B09E-47B0-B495-1F15D099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669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FFBC8-A8A3-4464-8A5D-BFFD6818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669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8001E-5D66-4739-8C80-CDE00D8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384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Certificate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1C664-2FA9-4DB6-A56F-B2824E2B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781300"/>
            <a:ext cx="21240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PDF with QR verification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Expiry and revocation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60/30/7 day renewal alerts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Employee-by-course readiness matrix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8742D-B2F7-47D2-B95E-4014A141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Utility: the roster can block an unqualified person before they reach a post, while an audited admin override remains possible for exceptional cases.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DB121-48CA-40D0-BF73-07C1FC28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09</a:t>
            </a:r>
          </a:p>
        </p:txBody>
      </p:sp>
    </p:spTree>
    <p:extLst>
      <p:ext uri="{BB962C8B-B14F-4D97-AF65-F5344CB8AC3E}">
        <p14:creationId xmlns:p14="http://schemas.microsoft.com/office/powerpoint/2010/main" val="2043519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FFE62-0FA4-4CC9-9674-EF17A40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4468A-A5A2-4E82-96C9-61D3C2C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+ BACKEND  / 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1B20F-864A-4D30-AD08-0AA986F2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Deployment planner and roster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DC798-BEC3-4BA9-ADF4-5FC9C633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03BB3-E9AD-4E3A-BE9C-6C41F3F8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Day, night and multi-day roster board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Drag assignments into open slots and manage replacements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Candidate ranking by eligibility, rest, weekly hours, experience, distance and estimated overtime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Checks for leave, training overlap, grades, client restrictions and required certification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Draft roster stays private until an authorised publish action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Published roster becomes the employee and client operational record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Copy week, history, notifications, acknowledgements and forecast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F766A-5B48-4365-8813-E44691EE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088D5-D1D4-4782-864B-DB357810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0A973-A7B0-4D35-86B7-5F5D3C74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Control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2BD96-BFE0-4C52-994D-DAB0A094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2933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96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Publishing is the release step.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Before publication, planners can work safely.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After publication, guards and clients see the current duty.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Changes create notifications and preserve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09280-FADE-4FF7-9045-9143ACEC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10</a:t>
            </a:r>
          </a:p>
        </p:txBody>
      </p:sp>
    </p:spTree>
    <p:extLst>
      <p:ext uri="{BB962C8B-B14F-4D97-AF65-F5344CB8AC3E}">
        <p14:creationId xmlns:p14="http://schemas.microsoft.com/office/powerpoint/2010/main" val="14514409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65D2-0F47-4AD1-AD09-9A29DADB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4F273-8384-4A45-9A0A-7B06609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+ BACKEND  /  MOBILE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A9472-E733-41C0-BD7E-9F81C85A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Attendance PWA and employee self-service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7FA10-6A26-42FE-A120-B1AA89E8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5CDC4-CC83-4E1E-BE49-2C2C2426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Designed for low-end Android devices and unstable connectivity.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FE258-991D-48E9-B45B-21847AD4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767EC-C012-48FB-9F84-6FDD9655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F0BDC-7D99-471A-AEDD-3B7C4F87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On device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936DC-F3AB-4BB2-BD27-6FD6C479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933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Installable attendance PWA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Selfie evidence at check-in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GPS accuracy and geofence validation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IndexedDB offline queue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Reconnect sync and retry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E2711-B707-42C0-84FB-C4D0B8D9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4E67D-A85B-4FE8-9D9B-031C02E8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2648A-21D8-4EDC-9A35-0A04018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Server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EA449-32F3-4F11-9928-0DB38457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2933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Employee identity and assigned site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Published roster timing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24-hour capture window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Idempotent event processing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Manager approval for offline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50C8A-90C6-461A-AEDE-D4E7FD12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37874-F78C-46BA-870B-58BCDC64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4D761-0F26-4FF2-AC75-729C2F0E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Utility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5397C-95F9-4195-890B-F193F7C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2933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supervisor gets a trustworthy attendance queue even when the network is poor.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system is explicit about what browser evidence can and cannot prove.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C6E8D-B95D-4970-8AF5-4D16ED4E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11</a:t>
            </a:r>
          </a:p>
        </p:txBody>
      </p:sp>
    </p:spTree>
    <p:extLst>
      <p:ext uri="{BB962C8B-B14F-4D97-AF65-F5344CB8AC3E}">
        <p14:creationId xmlns:p14="http://schemas.microsoft.com/office/powerpoint/2010/main" val="1772072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4CAED-0E2A-43B4-A0BF-5F71854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2AAA0-34B3-4DF2-BA23-3C58C488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+ BACKEND  /  SITE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0B594-9FDF-4D22-B733-6155CB3D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Field operations and risk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E91FD-FFB2-43EB-BEB6-F73814C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E8497-9C55-4CD6-BC7F-A69F0389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85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Structured surveys for site security weaknesses and strengths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Severity, likelihood, remedy, owner, target date and location evidence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Client acknowledgement and risk acceptance with named sign-off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Evidence uploads in a private bucket with signed, short-lived links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Incidents with SOP prompts, investigation notes and closure reports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SOS escalation, digital handover, gate passes and occurrence records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Patrols with QR checkpoints, GPS accuracy and schedule window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0CB2E-86EB-42F7-99A7-07DB8F78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33F7E-95D0-46CB-8291-1DDB0529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A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62CEC-024A-4F39-99AD-D78CCED9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0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Security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1F45A-1DC6-47ED-A6B1-0B36F531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432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score recalculates from open findings.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History records score movement over time.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Client reports show the current score with the evidence behind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4EC89-EC47-4414-9407-EF6E955C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12</a:t>
            </a:r>
          </a:p>
        </p:txBody>
      </p:sp>
    </p:spTree>
    <p:extLst>
      <p:ext uri="{BB962C8B-B14F-4D97-AF65-F5344CB8AC3E}">
        <p14:creationId xmlns:p14="http://schemas.microsoft.com/office/powerpoint/2010/main" val="9801513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EB1DE-7A12-4FC2-9D4F-FC32DDA6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056DD-640D-4EA3-9EA7-5288287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+ BACKEND  /  CAMERA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A6C6D-F052-4AB2-8300-26216B38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Consent-gated CCTV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13224-777C-4E18-BEE8-1F2E7788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E250B-6F28-48E2-B788-CC8694E6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33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348DE-D726-4FED-A455-1C98AD0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CAF15-39DB-4220-9CD2-3740E385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FADCE-B224-4DFF-8C0F-22202623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933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camera requires a signed client authorisation linked to the same site.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credentials are encrypted at rest.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E94E4-4E89-4454-9AC5-E7316A6B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3333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971F6-B2B3-4FA0-90B3-0E74A9F3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15A3D-E5D4-4C1B-8B41-E2FB089A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2EA8B-D79D-4778-AF98-26759B23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933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Server checks role, camera scope, purpose, hours, validity and revocation.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browser receives a short-lived playback session only.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E8E17-054B-4CC6-BE89-0D6AEE6C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05000"/>
            <a:ext cx="3333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E4BED-FC1E-475E-9130-1676D51C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0500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E0FC5-3649-43CD-88FB-0342A69B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564BD-A263-4F22-981B-78E563C8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933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Every open, heartbeat and close is recorded with viewer, reason and duration.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Watermark shows viewer and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E67F5-9C19-42EE-90B2-5CF324FC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Development camera wall uses synthetic streams and clearly labelled fictional consent fixtures. Live playback is enabled only after the client media gateway is configured.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F8B8B-D5D9-4AAC-83FA-6918AB60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13</a:t>
            </a:r>
          </a:p>
        </p:txBody>
      </p:sp>
    </p:spTree>
    <p:extLst>
      <p:ext uri="{BB962C8B-B14F-4D97-AF65-F5344CB8AC3E}">
        <p14:creationId xmlns:p14="http://schemas.microsoft.com/office/powerpoint/2010/main" val="586722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2D1AF-24F0-4B69-8131-F51281FD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128E3-8D10-4092-8965-72C31759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FRONTEND + BACKEND  /  BUSINESS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74C55-0EDC-4166-A87A-E5093F19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Billing, compliance and recruitment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F1ED4-ADE9-4969-A332-967D4763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A0E01-A414-4924-81A5-7A72F6E7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477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Attendance-to-invoice generation uses approved muster records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Rate cards, overtime, tax inputs, penalties, adjustments and immutable snapshots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Issued invoice PDF, credit notes, payments, TDS and overpayment protection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Compliance due dates, verification documents and client audit readiness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Recruitment pipeline from candidate to verified trainee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Physical and document readiness remains visible to HR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Client and finance permissions keep drafts and private receipts restricted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38173-BB98-4445-89E0-3D6BD338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15869-5344-4F5F-8590-E381C04B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76328-D40F-410B-98C7-16E1F0AC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Utility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8D7DC-C7D8-4590-A85F-FFACE567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2933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Finance sees exactly why an amount was generated.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Clients see their issued records.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organization can correct a draft without rewriting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978AE-98E6-49B7-9FFC-21E0EB2A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14</a:t>
            </a:r>
          </a:p>
        </p:txBody>
      </p:sp>
    </p:spTree>
    <p:extLst>
      <p:ext uri="{BB962C8B-B14F-4D97-AF65-F5344CB8AC3E}">
        <p14:creationId xmlns:p14="http://schemas.microsoft.com/office/powerpoint/2010/main" val="17153768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28899-AEAD-4C4B-9B3C-D779B2A2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7C577-7701-466A-A01C-2E8E0FE5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BACKEND  /  CONTROL PLANE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977BB-1A05-47B9-B1E9-57A2AE01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Notifications, audit and data protection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CD477-C908-4F0D-BC56-DA482733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890EB-2FF5-4D3A-B631-5874FF7A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7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45FC6-F820-4F0B-83F3-E7969B5B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054F5-99B1-42B5-BF80-773D1F37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In-app alerts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C4CC6-4271-4C2F-8DC2-B0C0497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171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Roster publication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No-show and risk reminders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Training renewals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Compliance and patrol alerts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SOS response timer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311E5-1F64-4505-A498-19B2324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57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F1F1B-F78D-4A4B-95CA-95602984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9F92A-9F56-4B90-B64E-623A6FA9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24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Delivery outbox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ED515-51F5-447C-9742-460F22B6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66975"/>
            <a:ext cx="2171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Channel preferences for English, Kannada and Hindi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Provider adapter for email, SMS and WhatsApp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Retry, idempotency and delivery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7A518-9368-4899-A9AB-F5D80279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257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9C618-5142-40CF-A1C6-6349DFA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94F47-C5A3-4FEA-AF68-DD8100C4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24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915D9-7677-415F-9692-2FD66B44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66975"/>
            <a:ext cx="2171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Create, update, view, export and download events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Redacted sensitive records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Access administration with final-admin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A5ED5-AAAA-4A1B-B311-B59F171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52625"/>
            <a:ext cx="257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F3DD0-761A-41A1-9CC2-98123328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526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A3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1B536-F457-418A-9078-5B69D8D7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24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Retention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8D4CE-5FED-4DC2-8774-7DA254C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66975"/>
            <a:ext cx="2171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Workspace policy setting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Private storage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Short signed URLs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Reviewed deletion process before data removal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69475-4BFA-4000-AE52-F6C86627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2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Utility: a manager can explain what happened, who acted, which evidence supported it and what remains unresolved.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2377D-A369-4E8F-B6D9-804FCDAD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15</a:t>
            </a:r>
          </a:p>
        </p:txBody>
      </p:sp>
    </p:spTree>
    <p:extLst>
      <p:ext uri="{BB962C8B-B14F-4D97-AF65-F5344CB8AC3E}">
        <p14:creationId xmlns:p14="http://schemas.microsoft.com/office/powerpoint/2010/main" val="535875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0E04C4-B86C-47E5-B117-EF4C0D00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3F5FB-4CE2-4E46-AD8B-DE29C357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BACKEND  /  SUPABASE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95B83-D123-483A-B7CB-7DDE2E1A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Backend capabilities by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7A810-2B30-4B5E-9964-1F950FF5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C95E0-86B6-429D-9556-9A1413F6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B9A93-1763-4A73-84AE-293A72F5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Auth and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B267B-9F82-4902-BA80-C9898158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859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Supabase Auth sessions, activation links, role memberships and workspace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17576-658E-4B0D-8695-AC69EC3A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5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73C9A-1F6F-4C67-8E39-24CE1B69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01FB2-3A76-4F91-A48F-E88610AA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98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Tenant-scoped tables, composite relationships, soft deletes, revisions and indexes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7A368-184F-49F1-B002-582C970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449BC-605A-4379-ACD3-42C9E6F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43E8B-C9CF-46CB-8D30-9030CBA8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337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RLS policies, security-definer RPCs, role checks, site/client scopes and audit triggers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A7B5A-2313-4064-B4D2-F147E1DD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5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A5C81-022C-4B68-A329-9DEA720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2BE01-3070-48B0-8837-D10F52DB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576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Private storage buckets, content validation, encrypted camera source and signed URLs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A3853-6DE3-4585-9700-51F6223E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5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A77F0-9BD1-41D6-84DE-DE5DDF17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815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Business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BEC3A-0A08-4B59-997F-A439AA7C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815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Roster locks, training snapshots, attendance gates, billing arithmetic, workflows and alerts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2A813-22F5-4B76-ACF1-9B6A662C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24619-96D4-483E-BF33-22FA49A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05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D0989-31A5-40C2-9753-424681DD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054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Railway container, GitHub deployment, scheduled checks, notification worker and health endpoint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9ADB7-DB81-42A4-8693-7107C967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16</a:t>
            </a:r>
          </a:p>
        </p:txBody>
      </p:sp>
    </p:spTree>
    <p:extLst>
      <p:ext uri="{BB962C8B-B14F-4D97-AF65-F5344CB8AC3E}">
        <p14:creationId xmlns:p14="http://schemas.microsoft.com/office/powerpoint/2010/main" val="8592033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A7DDC-0B13-4F79-B9B0-3FA7414D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8AE32-6DED-474F-9F30-92D943E6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BACKEND  / 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8444B-C76C-45B3-BF92-0C70A9E8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Security model and operational safeguards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CA962-5579-458D-8518-F41B43AD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D3EAF-AB55-4F35-9D2C-5BF80C1F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important controls are enforced below the interface.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C8ED0-03D3-437F-9494-2EB4820C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572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Every business record carries a tenant boundary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Client and supervisor views are site-scoped through database policies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Guard views resolve to self or current published duty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Draft rosters remain private until publication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Sensitive camera sources never reach the browser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CCTV, evidence, exports and document downloads are auditable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State transitions use optimistic versions and server-side workflow rules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•  Concurrent roster writes use serialized tenant 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4B8D1-4032-4059-855C-EE0414DB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5E256-5CFC-450D-B7E0-D5BE9510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7D028-9A1D-4898-B7F5-134D9387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DFB7B-340C-4515-998E-E293559F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838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23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user can only act on the operational slice assigned to their role, workspace and site scope.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interface explains the decision; the database enforces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FCD41-E1C0-47F7-A558-434E7C79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17</a:t>
            </a:r>
          </a:p>
        </p:txBody>
      </p:sp>
    </p:spTree>
    <p:extLst>
      <p:ext uri="{BB962C8B-B14F-4D97-AF65-F5344CB8AC3E}">
        <p14:creationId xmlns:p14="http://schemas.microsoft.com/office/powerpoint/2010/main" val="7842584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12C17-8886-4479-919C-FB5ADBB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0AA68-76B6-4A66-A148-40161577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C5C91"/>
                </a:solidFill>
                <a:latin typeface="Helvetica Neue"/>
                <a:ea typeface="Helvetica Neue"/>
                <a:cs typeface="Helvetica Neue"/>
              </a:rPr>
              <a:t>UTILITY  /  END-TO-END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FAB99-0B75-4277-A2D1-945B92C1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What each role can accomplish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CC43B-511A-4A18-8B99-1ADED310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ADB16-E8BC-4476-9A14-751A38BC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E9454-3275-4E46-9144-02A47282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E9CBE-E876-4FA8-A5F6-93E0D958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38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Configure the workspace, control access, review audit and release exceptions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5A908-0445-4F6E-83B6-99339C85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F7469-13CC-42E8-9B02-DD51357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2582C-5EA3-4F30-90A1-E235A98E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764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Plan coverage, fill gaps, publish duties, respond to incidents and monitor sites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27278-388F-4430-8641-3048EF19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4B109-C4BB-436F-876F-FCF6CBEA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HR / Payroll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A9055-D0AD-44A6-98F5-93857F9B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14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Maintain people, pay the team, track compliance and protect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4CF4E-DFDE-4AF2-9E4E-C0B20D10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C4D4E-B78C-407C-BA3D-E6D77A76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Trainer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D63D0-E9D1-46F6-B0E0-710BBD0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528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Move staff from enrolment through verified certification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63ECC-7449-499B-8EED-A3EB72CA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935DA-2290-4599-88D7-B7D86FA9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Supervisor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D3691-9A07-451B-B179-839AB36E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91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 the shift, capture field evidence and close site issues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E433D-817F-467C-AA40-D1217DDF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8A772-4DBB-4AC1-9F82-DD65871D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Guard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037CF-9A06-4CE1-BB40-3A6374E6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2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See the duty, prove attendance, complete training and acknowledge changes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5B63AF-8311-4BBB-8389-5CB50ADC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FB1BE-A07F-4407-A01E-BB2CC8C6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EE3AC-5994-4952-A454-2B196993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67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See service evidence, accept risks, review coverage and validate invoices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7BA3E-B9DE-4660-A9BF-61430DE5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5B7088"/>
                </a:solidFill>
                <a:latin typeface="Helvetica Neue"/>
                <a:ea typeface="Helvetica Neue"/>
                <a:cs typeface="Helvetica Neue"/>
              </a:rPr>
              <a:t>SDC Security &amp; Facility Services  ·  18</a:t>
            </a:r>
          </a:p>
        </p:txBody>
      </p:sp>
    </p:spTree>
    <p:extLst>
      <p:ext uri="{BB962C8B-B14F-4D97-AF65-F5344CB8AC3E}">
        <p14:creationId xmlns:p14="http://schemas.microsoft.com/office/powerpoint/2010/main" val="20971017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2B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D9AD5-54AA-4601-83BE-57BEEBF2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DD1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D1E5"/>
                </a:solidFill>
                <a:latin typeface="Helvetica Neue"/>
                <a:ea typeface="Helvetica Neue"/>
                <a:cs typeface="Helvetica Neue"/>
              </a:rPr>
              <a:t>SDC COMMAND  /  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A4534-6580-40B6-8B19-9E08FAF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Release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EDAF7-5FC0-4C83-8637-89603FE7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83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software foundation is ready. Live operation needs the client’s final configuration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83C0C-0BD6-45E3-9E27-7F21D0B0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F5075-98F5-4873-B50A-01F755A7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A1B87-C8DB-4624-B727-E66E8052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Ready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5AD7C-115F-43D8-AB43-91B41913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29337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Role-based application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Supabase schema and RLS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Railway deployment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Demo seed and synthetic CCTV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Regression tests and build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D8695-9C91-4F9C-A7A6-1402AA02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0A7F-352B-4F9B-8A63-23F10145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2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14891-76FE-4B58-9972-6749E907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43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Configure before live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D4575-F7A1-4E41-9A05-17230989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86100"/>
            <a:ext cx="29337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Legal invoice identity and GST details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Actual employee/client import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Email/SMS/WhatsApp provider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CCTV media gateway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Retention and statutory policy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F6548-FF69-4A9C-BF57-9311CE84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6821D-8431-4742-90FE-7FBD4A2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9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1D2C8-41FA-43E5-83E5-1BCA688D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2B52"/>
                </a:solidFill>
                <a:latin typeface="Helvetica Neue"/>
                <a:ea typeface="Helvetica Neue"/>
                <a:cs typeface="Helvetica Neue"/>
              </a:rPr>
              <a:t>Client acceptance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316BB-6439-413F-B119-EC86ED7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86100"/>
            <a:ext cx="29337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Review the role permissions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Confirm roster policy and training rules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Approve the demo-to-live data plan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 one real site pilot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Sign off the operating playbook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B0CC7-77A0-422C-88D0-DF41CD32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8D8E8"/>
                </a:solidFill>
                <a:latin typeface="Helvetica Neue"/>
                <a:ea typeface="Helvetica Neue"/>
                <a:cs typeface="Helvetica Neue"/>
              </a:rPr>
              <a:t>Current deployment: sdc-command-production-ec49.up.railway.app</a:t>
            </a:r>
          </a:p>
        </p:txBody>
      </p:sp>
    </p:spTree>
    <p:extLst>
      <p:ext uri="{BB962C8B-B14F-4D97-AF65-F5344CB8AC3E}">
        <p14:creationId xmlns:p14="http://schemas.microsoft.com/office/powerpoint/2010/main" val="1540618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2026-09-22T01:09:29.7960000Z</dcterms:created>
  <dcterms:modified xsi:type="dcterms:W3CDTF">2026-09-22T01:09:29.7960000Z</dcterms:modified>
</coreProperties>
</file>